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693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474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2">
            <a:extLst>
              <a:ext uri="{FF2B5EF4-FFF2-40B4-BE49-F238E27FC236}">
                <a16:creationId xmlns:a16="http://schemas.microsoft.com/office/drawing/2014/main" id="{E1EA7BB3-D361-E9E3-EB57-11B10BBCB9C2}"/>
              </a:ext>
            </a:extLst>
          </p:cNvPr>
          <p:cNvGrpSpPr/>
          <p:nvPr/>
        </p:nvGrpSpPr>
        <p:grpSpPr>
          <a:xfrm>
            <a:off x="7555325" y="4021635"/>
            <a:ext cx="4509889" cy="2364866"/>
            <a:chOff x="0" y="-395551"/>
            <a:chExt cx="1863646" cy="1912226"/>
          </a:xfrm>
        </p:grpSpPr>
        <p:sp>
          <p:nvSpPr>
            <p:cNvPr id="79" name="Freeform 3">
              <a:extLst>
                <a:ext uri="{FF2B5EF4-FFF2-40B4-BE49-F238E27FC236}">
                  <a16:creationId xmlns:a16="http://schemas.microsoft.com/office/drawing/2014/main" id="{7986F5ED-BA48-F56D-E0A3-7316A288586A}"/>
                </a:ext>
              </a:extLst>
            </p:cNvPr>
            <p:cNvSpPr/>
            <p:nvPr/>
          </p:nvSpPr>
          <p:spPr>
            <a:xfrm>
              <a:off x="21401" y="-395551"/>
              <a:ext cx="1842245" cy="1516675"/>
            </a:xfrm>
            <a:custGeom>
              <a:avLst/>
              <a:gdLst/>
              <a:ahLst/>
              <a:cxnLst/>
              <a:rect l="l" t="t" r="r" b="b"/>
              <a:pathLst>
                <a:path w="1842245" h="1516675">
                  <a:moveTo>
                    <a:pt x="54015" y="0"/>
                  </a:moveTo>
                  <a:lnTo>
                    <a:pt x="1788231" y="0"/>
                  </a:lnTo>
                  <a:cubicBezTo>
                    <a:pt x="1818062" y="0"/>
                    <a:pt x="1842245" y="24183"/>
                    <a:pt x="1842245" y="54015"/>
                  </a:cubicBezTo>
                  <a:lnTo>
                    <a:pt x="1842245" y="1462661"/>
                  </a:lnTo>
                  <a:cubicBezTo>
                    <a:pt x="1842245" y="1492492"/>
                    <a:pt x="1818062" y="1516675"/>
                    <a:pt x="1788231" y="1516675"/>
                  </a:cubicBezTo>
                  <a:lnTo>
                    <a:pt x="54015" y="1516675"/>
                  </a:lnTo>
                  <a:cubicBezTo>
                    <a:pt x="24183" y="1516675"/>
                    <a:pt x="0" y="1492492"/>
                    <a:pt x="0" y="1462661"/>
                  </a:cubicBezTo>
                  <a:lnTo>
                    <a:pt x="0" y="54015"/>
                  </a:lnTo>
                  <a:cubicBezTo>
                    <a:pt x="0" y="24183"/>
                    <a:pt x="24183" y="0"/>
                    <a:pt x="54015" y="0"/>
                  </a:cubicBezTo>
                  <a:close/>
                </a:path>
              </a:pathLst>
            </a:custGeom>
            <a:solidFill>
              <a:srgbClr val="C0D9EF">
                <a:alpha val="2392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80" name="TextBox 4">
              <a:extLst>
                <a:ext uri="{FF2B5EF4-FFF2-40B4-BE49-F238E27FC236}">
                  <a16:creationId xmlns:a16="http://schemas.microsoft.com/office/drawing/2014/main" id="{5B20666E-CDDE-93A5-2AFE-ABC60DE24DAC}"/>
                </a:ext>
              </a:extLst>
            </p:cNvPr>
            <p:cNvSpPr txBox="1"/>
            <p:nvPr/>
          </p:nvSpPr>
          <p:spPr>
            <a:xfrm>
              <a:off x="0" y="-57150"/>
              <a:ext cx="1842245" cy="1573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7608622" y="2524007"/>
            <a:ext cx="4458100" cy="1384813"/>
            <a:chOff x="0" y="0"/>
            <a:chExt cx="1842245" cy="15166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2245" cy="1516675"/>
            </a:xfrm>
            <a:custGeom>
              <a:avLst/>
              <a:gdLst/>
              <a:ahLst/>
              <a:cxnLst/>
              <a:rect l="l" t="t" r="r" b="b"/>
              <a:pathLst>
                <a:path w="1842245" h="1516675">
                  <a:moveTo>
                    <a:pt x="54015" y="0"/>
                  </a:moveTo>
                  <a:lnTo>
                    <a:pt x="1788231" y="0"/>
                  </a:lnTo>
                  <a:cubicBezTo>
                    <a:pt x="1818062" y="0"/>
                    <a:pt x="1842245" y="24183"/>
                    <a:pt x="1842245" y="54015"/>
                  </a:cubicBezTo>
                  <a:lnTo>
                    <a:pt x="1842245" y="1462661"/>
                  </a:lnTo>
                  <a:cubicBezTo>
                    <a:pt x="1842245" y="1492492"/>
                    <a:pt x="1818062" y="1516675"/>
                    <a:pt x="1788231" y="1516675"/>
                  </a:cubicBezTo>
                  <a:lnTo>
                    <a:pt x="54015" y="1516675"/>
                  </a:lnTo>
                  <a:cubicBezTo>
                    <a:pt x="24183" y="1516675"/>
                    <a:pt x="0" y="1492492"/>
                    <a:pt x="0" y="1462661"/>
                  </a:cubicBezTo>
                  <a:lnTo>
                    <a:pt x="0" y="54015"/>
                  </a:lnTo>
                  <a:cubicBezTo>
                    <a:pt x="0" y="24183"/>
                    <a:pt x="24183" y="0"/>
                    <a:pt x="54015" y="0"/>
                  </a:cubicBezTo>
                  <a:close/>
                </a:path>
              </a:pathLst>
            </a:custGeom>
            <a:solidFill>
              <a:srgbClr val="C0D9EF">
                <a:alpha val="2392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42245" cy="1573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612966" y="9057554"/>
            <a:ext cx="1176885" cy="810227"/>
            <a:chOff x="0" y="0"/>
            <a:chExt cx="1849547" cy="7850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49547" cy="785006"/>
            </a:xfrm>
            <a:custGeom>
              <a:avLst/>
              <a:gdLst/>
              <a:ahLst/>
              <a:cxnLst/>
              <a:rect l="l" t="t" r="r" b="b"/>
              <a:pathLst>
                <a:path w="1849547" h="785006">
                  <a:moveTo>
                    <a:pt x="53801" y="0"/>
                  </a:moveTo>
                  <a:lnTo>
                    <a:pt x="1795746" y="0"/>
                  </a:lnTo>
                  <a:cubicBezTo>
                    <a:pt x="1825460" y="0"/>
                    <a:pt x="1849547" y="24088"/>
                    <a:pt x="1849547" y="53801"/>
                  </a:cubicBezTo>
                  <a:lnTo>
                    <a:pt x="1849547" y="731204"/>
                  </a:lnTo>
                  <a:cubicBezTo>
                    <a:pt x="1849547" y="745473"/>
                    <a:pt x="1843879" y="759158"/>
                    <a:pt x="1833789" y="769248"/>
                  </a:cubicBezTo>
                  <a:cubicBezTo>
                    <a:pt x="1823700" y="779337"/>
                    <a:pt x="1810015" y="785006"/>
                    <a:pt x="1795746" y="785006"/>
                  </a:cubicBezTo>
                  <a:lnTo>
                    <a:pt x="53801" y="785006"/>
                  </a:lnTo>
                  <a:cubicBezTo>
                    <a:pt x="39532" y="785006"/>
                    <a:pt x="25848" y="779337"/>
                    <a:pt x="15758" y="769248"/>
                  </a:cubicBezTo>
                  <a:cubicBezTo>
                    <a:pt x="5668" y="759158"/>
                    <a:pt x="0" y="745473"/>
                    <a:pt x="0" y="731204"/>
                  </a:cubicBezTo>
                  <a:lnTo>
                    <a:pt x="0" y="53801"/>
                  </a:lnTo>
                  <a:cubicBezTo>
                    <a:pt x="0" y="39532"/>
                    <a:pt x="5668" y="25848"/>
                    <a:pt x="15758" y="15758"/>
                  </a:cubicBezTo>
                  <a:cubicBezTo>
                    <a:pt x="25848" y="5668"/>
                    <a:pt x="39532" y="0"/>
                    <a:pt x="53801" y="0"/>
                  </a:cubicBezTo>
                  <a:close/>
                </a:path>
              </a:pathLst>
            </a:custGeom>
            <a:solidFill>
              <a:srgbClr val="C0D9EF">
                <a:alpha val="2392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849547" cy="842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29769" y="2501969"/>
            <a:ext cx="4714453" cy="3355280"/>
            <a:chOff x="0" y="0"/>
            <a:chExt cx="1909420" cy="14438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09420" cy="1443879"/>
            </a:xfrm>
            <a:custGeom>
              <a:avLst/>
              <a:gdLst/>
              <a:ahLst/>
              <a:cxnLst/>
              <a:rect l="l" t="t" r="r" b="b"/>
              <a:pathLst>
                <a:path w="1909420" h="1443879">
                  <a:moveTo>
                    <a:pt x="75388" y="0"/>
                  </a:moveTo>
                  <a:lnTo>
                    <a:pt x="1834032" y="0"/>
                  </a:lnTo>
                  <a:cubicBezTo>
                    <a:pt x="1875668" y="0"/>
                    <a:pt x="1909420" y="33752"/>
                    <a:pt x="1909420" y="75388"/>
                  </a:cubicBezTo>
                  <a:lnTo>
                    <a:pt x="1909420" y="1368491"/>
                  </a:lnTo>
                  <a:cubicBezTo>
                    <a:pt x="1909420" y="1410127"/>
                    <a:pt x="1875668" y="1443879"/>
                    <a:pt x="1834032" y="1443879"/>
                  </a:cubicBezTo>
                  <a:lnTo>
                    <a:pt x="75388" y="1443879"/>
                  </a:lnTo>
                  <a:cubicBezTo>
                    <a:pt x="33752" y="1443879"/>
                    <a:pt x="0" y="1410127"/>
                    <a:pt x="0" y="1368491"/>
                  </a:cubicBezTo>
                  <a:lnTo>
                    <a:pt x="0" y="75388"/>
                  </a:lnTo>
                  <a:cubicBezTo>
                    <a:pt x="0" y="33752"/>
                    <a:pt x="33752" y="0"/>
                    <a:pt x="753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5A9C4">
                    <a:alpha val="22000"/>
                  </a:srgbClr>
                </a:gs>
                <a:gs pos="50000">
                  <a:srgbClr val="7499CB">
                    <a:alpha val="22000"/>
                  </a:srgbClr>
                </a:gs>
                <a:gs pos="100000">
                  <a:srgbClr val="4C7CBD">
                    <a:alpha val="22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909420" cy="1491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283745" y="4716235"/>
            <a:ext cx="3738143" cy="25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75"/>
              </a:lnSpc>
              <a:spcBef>
                <a:spcPct val="0"/>
              </a:spcBef>
            </a:pPr>
            <a:endParaRPr lang="en-US" sz="1503" b="1" dirty="0">
              <a:solidFill>
                <a:srgbClr val="000B5D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390727" y="-148843"/>
            <a:ext cx="5707313" cy="10210395"/>
            <a:chOff x="0" y="0"/>
            <a:chExt cx="2813761" cy="51568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13761" cy="5156889"/>
            </a:xfrm>
            <a:custGeom>
              <a:avLst/>
              <a:gdLst/>
              <a:ahLst/>
              <a:cxnLst/>
              <a:rect l="l" t="t" r="r" b="b"/>
              <a:pathLst>
                <a:path w="2813761" h="5156889">
                  <a:moveTo>
                    <a:pt x="0" y="0"/>
                  </a:moveTo>
                  <a:lnTo>
                    <a:pt x="2813761" y="0"/>
                  </a:lnTo>
                  <a:lnTo>
                    <a:pt x="2813761" y="5156889"/>
                  </a:lnTo>
                  <a:lnTo>
                    <a:pt x="0" y="5156889"/>
                  </a:lnTo>
                  <a:close/>
                </a:path>
              </a:pathLst>
            </a:custGeom>
            <a:gradFill rotWithShape="1">
              <a:gsLst>
                <a:gs pos="0">
                  <a:srgbClr val="366980">
                    <a:alpha val="39000"/>
                  </a:srgbClr>
                </a:gs>
                <a:gs pos="100000">
                  <a:srgbClr val="0B51AE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813761" cy="5175939"/>
            </a:xfrm>
            <a:prstGeom prst="rect">
              <a:avLst/>
            </a:prstGeom>
          </p:spPr>
          <p:txBody>
            <a:bodyPr lIns="26491" tIns="26491" rIns="26491" bIns="26491" rtlCol="0" anchor="ctr"/>
            <a:lstStyle/>
            <a:p>
              <a:pPr algn="ctr">
                <a:lnSpc>
                  <a:spcPts val="1387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-10800000">
            <a:off x="1828516" y="9862632"/>
            <a:ext cx="15120000" cy="855656"/>
            <a:chOff x="0" y="0"/>
            <a:chExt cx="4826661" cy="2731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26660" cy="273146"/>
            </a:xfrm>
            <a:custGeom>
              <a:avLst/>
              <a:gdLst/>
              <a:ahLst/>
              <a:cxnLst/>
              <a:rect l="l" t="t" r="r" b="b"/>
              <a:pathLst>
                <a:path w="4826660" h="273146">
                  <a:moveTo>
                    <a:pt x="4826660" y="0"/>
                  </a:moveTo>
                  <a:lnTo>
                    <a:pt x="4826660" y="273146"/>
                  </a:lnTo>
                  <a:lnTo>
                    <a:pt x="2413330" y="146146"/>
                  </a:lnTo>
                  <a:lnTo>
                    <a:pt x="0" y="273146"/>
                  </a:lnTo>
                  <a:lnTo>
                    <a:pt x="0" y="0"/>
                  </a:lnTo>
                  <a:lnTo>
                    <a:pt x="4826660" y="0"/>
                  </a:lnTo>
                  <a:close/>
                </a:path>
              </a:pathLst>
            </a:custGeom>
            <a:solidFill>
              <a:srgbClr val="01388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826661" cy="184246"/>
            </a:xfrm>
            <a:prstGeom prst="rect">
              <a:avLst/>
            </a:prstGeom>
          </p:spPr>
          <p:txBody>
            <a:bodyPr lIns="41912" tIns="41912" rIns="41912" bIns="41912" rtlCol="0" anchor="ctr"/>
            <a:lstStyle/>
            <a:p>
              <a:pPr algn="ctr">
                <a:lnSpc>
                  <a:spcPts val="207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AutoShape 18"/>
          <p:cNvSpPr/>
          <p:nvPr/>
        </p:nvSpPr>
        <p:spPr>
          <a:xfrm flipH="1" flipV="1">
            <a:off x="1816253" y="4060444"/>
            <a:ext cx="4833" cy="5089331"/>
          </a:xfrm>
          <a:prstGeom prst="line">
            <a:avLst/>
          </a:prstGeom>
          <a:ln w="19050" cap="flat">
            <a:solidFill>
              <a:srgbClr val="000B5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flipH="1">
            <a:off x="1880062" y="6804280"/>
            <a:ext cx="274131" cy="0"/>
          </a:xfrm>
          <a:prstGeom prst="line">
            <a:avLst/>
          </a:prstGeom>
          <a:ln w="9525" cap="flat">
            <a:solidFill>
              <a:srgbClr val="000B5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 rot="-5400000">
            <a:off x="1737653" y="6719914"/>
            <a:ext cx="181725" cy="179921"/>
            <a:chOff x="0" y="0"/>
            <a:chExt cx="6350000" cy="628696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50000" cy="6286964"/>
            </a:xfrm>
            <a:custGeom>
              <a:avLst/>
              <a:gdLst/>
              <a:ahLst/>
              <a:cxnLst/>
              <a:rect l="l" t="t" r="r" b="b"/>
              <a:pathLst>
                <a:path w="6350000" h="6286964">
                  <a:moveTo>
                    <a:pt x="3175000" y="0"/>
                  </a:moveTo>
                  <a:cubicBezTo>
                    <a:pt x="1421496" y="0"/>
                    <a:pt x="0" y="1407385"/>
                    <a:pt x="0" y="3143482"/>
                  </a:cubicBezTo>
                  <a:cubicBezTo>
                    <a:pt x="0" y="4879579"/>
                    <a:pt x="1421496" y="6286964"/>
                    <a:pt x="3175000" y="6286964"/>
                  </a:cubicBezTo>
                  <a:cubicBezTo>
                    <a:pt x="4928504" y="6286964"/>
                    <a:pt x="6350000" y="4879579"/>
                    <a:pt x="6350000" y="3143482"/>
                  </a:cubicBezTo>
                  <a:cubicBezTo>
                    <a:pt x="6350000" y="140738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B5D"/>
            </a:solidFill>
          </p:spPr>
        </p:sp>
      </p:grpSp>
      <p:grpSp>
        <p:nvGrpSpPr>
          <p:cNvPr id="25" name="Group 25"/>
          <p:cNvGrpSpPr/>
          <p:nvPr/>
        </p:nvGrpSpPr>
        <p:grpSpPr>
          <a:xfrm rot="-5400000">
            <a:off x="2102099" y="6766182"/>
            <a:ext cx="93120" cy="92196"/>
            <a:chOff x="0" y="0"/>
            <a:chExt cx="6350000" cy="628696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50000" cy="6286964"/>
            </a:xfrm>
            <a:custGeom>
              <a:avLst/>
              <a:gdLst/>
              <a:ahLst/>
              <a:cxnLst/>
              <a:rect l="l" t="t" r="r" b="b"/>
              <a:pathLst>
                <a:path w="6350000" h="6286964">
                  <a:moveTo>
                    <a:pt x="3175000" y="0"/>
                  </a:moveTo>
                  <a:cubicBezTo>
                    <a:pt x="1421496" y="0"/>
                    <a:pt x="0" y="1407385"/>
                    <a:pt x="0" y="3143482"/>
                  </a:cubicBezTo>
                  <a:cubicBezTo>
                    <a:pt x="0" y="4879579"/>
                    <a:pt x="1421496" y="6286964"/>
                    <a:pt x="3175000" y="6286964"/>
                  </a:cubicBezTo>
                  <a:cubicBezTo>
                    <a:pt x="4928504" y="6286964"/>
                    <a:pt x="6350000" y="4879579"/>
                    <a:pt x="6350000" y="3143482"/>
                  </a:cubicBezTo>
                  <a:cubicBezTo>
                    <a:pt x="6350000" y="140738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9" name="AutoShape 29"/>
          <p:cNvSpPr/>
          <p:nvPr/>
        </p:nvSpPr>
        <p:spPr>
          <a:xfrm flipH="1" flipV="1">
            <a:off x="1864947" y="8010363"/>
            <a:ext cx="274131" cy="0"/>
          </a:xfrm>
          <a:prstGeom prst="line">
            <a:avLst/>
          </a:prstGeom>
          <a:ln w="9525" cap="flat">
            <a:solidFill>
              <a:srgbClr val="000B5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 flipH="1" flipV="1">
            <a:off x="1857659" y="5684514"/>
            <a:ext cx="274131" cy="0"/>
          </a:xfrm>
          <a:prstGeom prst="line">
            <a:avLst/>
          </a:prstGeom>
          <a:ln w="9525" cap="flat">
            <a:solidFill>
              <a:srgbClr val="000B5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 flipH="1" flipV="1">
            <a:off x="1947619" y="4107005"/>
            <a:ext cx="274131" cy="0"/>
          </a:xfrm>
          <a:prstGeom prst="line">
            <a:avLst/>
          </a:prstGeom>
          <a:ln w="9525" cap="flat">
            <a:solidFill>
              <a:srgbClr val="000B5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3" name="Group 33"/>
          <p:cNvGrpSpPr/>
          <p:nvPr/>
        </p:nvGrpSpPr>
        <p:grpSpPr>
          <a:xfrm rot="-5400000">
            <a:off x="1727806" y="7920403"/>
            <a:ext cx="181725" cy="179921"/>
            <a:chOff x="0" y="0"/>
            <a:chExt cx="6350000" cy="628696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350000" cy="6286964"/>
            </a:xfrm>
            <a:custGeom>
              <a:avLst/>
              <a:gdLst/>
              <a:ahLst/>
              <a:cxnLst/>
              <a:rect l="l" t="t" r="r" b="b"/>
              <a:pathLst>
                <a:path w="6350000" h="6286964">
                  <a:moveTo>
                    <a:pt x="3175000" y="0"/>
                  </a:moveTo>
                  <a:cubicBezTo>
                    <a:pt x="1421496" y="0"/>
                    <a:pt x="0" y="1407385"/>
                    <a:pt x="0" y="3143482"/>
                  </a:cubicBezTo>
                  <a:cubicBezTo>
                    <a:pt x="0" y="4879579"/>
                    <a:pt x="1421496" y="6286964"/>
                    <a:pt x="3175000" y="6286964"/>
                  </a:cubicBezTo>
                  <a:cubicBezTo>
                    <a:pt x="4928504" y="6286964"/>
                    <a:pt x="6350000" y="4879579"/>
                    <a:pt x="6350000" y="3143482"/>
                  </a:cubicBezTo>
                  <a:cubicBezTo>
                    <a:pt x="6350000" y="140738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B5D"/>
            </a:solidFill>
          </p:spPr>
        </p:sp>
      </p:grpSp>
      <p:grpSp>
        <p:nvGrpSpPr>
          <p:cNvPr id="37" name="Group 37"/>
          <p:cNvGrpSpPr/>
          <p:nvPr/>
        </p:nvGrpSpPr>
        <p:grpSpPr>
          <a:xfrm rot="-5400000">
            <a:off x="1727806" y="5594554"/>
            <a:ext cx="181725" cy="179921"/>
            <a:chOff x="0" y="0"/>
            <a:chExt cx="6350000" cy="628696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350000" cy="6286964"/>
            </a:xfrm>
            <a:custGeom>
              <a:avLst/>
              <a:gdLst/>
              <a:ahLst/>
              <a:cxnLst/>
              <a:rect l="l" t="t" r="r" b="b"/>
              <a:pathLst>
                <a:path w="6350000" h="6286964">
                  <a:moveTo>
                    <a:pt x="3175000" y="0"/>
                  </a:moveTo>
                  <a:cubicBezTo>
                    <a:pt x="1421496" y="0"/>
                    <a:pt x="0" y="1407385"/>
                    <a:pt x="0" y="3143482"/>
                  </a:cubicBezTo>
                  <a:cubicBezTo>
                    <a:pt x="0" y="4879579"/>
                    <a:pt x="1421496" y="6286964"/>
                    <a:pt x="3175000" y="6286964"/>
                  </a:cubicBezTo>
                  <a:cubicBezTo>
                    <a:pt x="4928504" y="6286964"/>
                    <a:pt x="6350000" y="4879579"/>
                    <a:pt x="6350000" y="3143482"/>
                  </a:cubicBezTo>
                  <a:cubicBezTo>
                    <a:pt x="6350000" y="140738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B5D"/>
            </a:solidFill>
          </p:spPr>
        </p:sp>
      </p:grpSp>
      <p:grpSp>
        <p:nvGrpSpPr>
          <p:cNvPr id="39" name="Group 39"/>
          <p:cNvGrpSpPr/>
          <p:nvPr/>
        </p:nvGrpSpPr>
        <p:grpSpPr>
          <a:xfrm rot="-5400000">
            <a:off x="1766796" y="4017045"/>
            <a:ext cx="181725" cy="179921"/>
            <a:chOff x="0" y="0"/>
            <a:chExt cx="6350000" cy="628696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350000" cy="6286964"/>
            </a:xfrm>
            <a:custGeom>
              <a:avLst/>
              <a:gdLst/>
              <a:ahLst/>
              <a:cxnLst/>
              <a:rect l="l" t="t" r="r" b="b"/>
              <a:pathLst>
                <a:path w="6350000" h="6286964">
                  <a:moveTo>
                    <a:pt x="3175000" y="0"/>
                  </a:moveTo>
                  <a:cubicBezTo>
                    <a:pt x="1421496" y="0"/>
                    <a:pt x="0" y="1407385"/>
                    <a:pt x="0" y="3143482"/>
                  </a:cubicBezTo>
                  <a:cubicBezTo>
                    <a:pt x="0" y="4879579"/>
                    <a:pt x="1421496" y="6286964"/>
                    <a:pt x="3175000" y="6286964"/>
                  </a:cubicBezTo>
                  <a:cubicBezTo>
                    <a:pt x="4928504" y="6286964"/>
                    <a:pt x="6350000" y="4879579"/>
                    <a:pt x="6350000" y="3143482"/>
                  </a:cubicBezTo>
                  <a:cubicBezTo>
                    <a:pt x="6350000" y="140738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B5D"/>
            </a:solidFill>
          </p:spPr>
        </p:sp>
      </p:grpSp>
      <p:grpSp>
        <p:nvGrpSpPr>
          <p:cNvPr id="41" name="Group 41"/>
          <p:cNvGrpSpPr/>
          <p:nvPr/>
        </p:nvGrpSpPr>
        <p:grpSpPr>
          <a:xfrm rot="-5400000">
            <a:off x="2153731" y="7973336"/>
            <a:ext cx="93120" cy="92196"/>
            <a:chOff x="0" y="0"/>
            <a:chExt cx="6350000" cy="628696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350000" cy="6286964"/>
            </a:xfrm>
            <a:custGeom>
              <a:avLst/>
              <a:gdLst/>
              <a:ahLst/>
              <a:cxnLst/>
              <a:rect l="l" t="t" r="r" b="b"/>
              <a:pathLst>
                <a:path w="6350000" h="6286964">
                  <a:moveTo>
                    <a:pt x="3175000" y="0"/>
                  </a:moveTo>
                  <a:cubicBezTo>
                    <a:pt x="1421496" y="0"/>
                    <a:pt x="0" y="1407385"/>
                    <a:pt x="0" y="3143482"/>
                  </a:cubicBezTo>
                  <a:cubicBezTo>
                    <a:pt x="0" y="4879579"/>
                    <a:pt x="1421496" y="6286964"/>
                    <a:pt x="3175000" y="6286964"/>
                  </a:cubicBezTo>
                  <a:cubicBezTo>
                    <a:pt x="4928504" y="6286964"/>
                    <a:pt x="6350000" y="4879579"/>
                    <a:pt x="6350000" y="3143482"/>
                  </a:cubicBezTo>
                  <a:cubicBezTo>
                    <a:pt x="6350000" y="140738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3" name="Group 43"/>
          <p:cNvGrpSpPr/>
          <p:nvPr/>
        </p:nvGrpSpPr>
        <p:grpSpPr>
          <a:xfrm rot="-5400000">
            <a:off x="2105751" y="5649063"/>
            <a:ext cx="93120" cy="92196"/>
            <a:chOff x="0" y="0"/>
            <a:chExt cx="6350000" cy="628696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350000" cy="6286964"/>
            </a:xfrm>
            <a:custGeom>
              <a:avLst/>
              <a:gdLst/>
              <a:ahLst/>
              <a:cxnLst/>
              <a:rect l="l" t="t" r="r" b="b"/>
              <a:pathLst>
                <a:path w="6350000" h="6286964">
                  <a:moveTo>
                    <a:pt x="3175000" y="0"/>
                  </a:moveTo>
                  <a:cubicBezTo>
                    <a:pt x="1421496" y="0"/>
                    <a:pt x="0" y="1407385"/>
                    <a:pt x="0" y="3143482"/>
                  </a:cubicBezTo>
                  <a:cubicBezTo>
                    <a:pt x="0" y="4879579"/>
                    <a:pt x="1421496" y="6286964"/>
                    <a:pt x="3175000" y="6286964"/>
                  </a:cubicBezTo>
                  <a:cubicBezTo>
                    <a:pt x="4928504" y="6286964"/>
                    <a:pt x="6350000" y="4879579"/>
                    <a:pt x="6350000" y="3143482"/>
                  </a:cubicBezTo>
                  <a:cubicBezTo>
                    <a:pt x="6350000" y="140738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5" name="Group 45"/>
          <p:cNvGrpSpPr/>
          <p:nvPr/>
        </p:nvGrpSpPr>
        <p:grpSpPr>
          <a:xfrm rot="-5400000">
            <a:off x="2221288" y="4060907"/>
            <a:ext cx="93120" cy="92196"/>
            <a:chOff x="0" y="0"/>
            <a:chExt cx="6350000" cy="628696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350000" cy="6286964"/>
            </a:xfrm>
            <a:custGeom>
              <a:avLst/>
              <a:gdLst/>
              <a:ahLst/>
              <a:cxnLst/>
              <a:rect l="l" t="t" r="r" b="b"/>
              <a:pathLst>
                <a:path w="6350000" h="6286964">
                  <a:moveTo>
                    <a:pt x="3175000" y="0"/>
                  </a:moveTo>
                  <a:cubicBezTo>
                    <a:pt x="1421496" y="0"/>
                    <a:pt x="0" y="1407385"/>
                    <a:pt x="0" y="3143482"/>
                  </a:cubicBezTo>
                  <a:cubicBezTo>
                    <a:pt x="0" y="4879579"/>
                    <a:pt x="1421496" y="6286964"/>
                    <a:pt x="3175000" y="6286964"/>
                  </a:cubicBezTo>
                  <a:cubicBezTo>
                    <a:pt x="4928504" y="6286964"/>
                    <a:pt x="6350000" y="4879579"/>
                    <a:pt x="6350000" y="3143482"/>
                  </a:cubicBezTo>
                  <a:cubicBezTo>
                    <a:pt x="6350000" y="140738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9" name="Freeform 49"/>
          <p:cNvSpPr/>
          <p:nvPr/>
        </p:nvSpPr>
        <p:spPr>
          <a:xfrm>
            <a:off x="6797199" y="0"/>
            <a:ext cx="652035" cy="1045537"/>
          </a:xfrm>
          <a:custGeom>
            <a:avLst/>
            <a:gdLst/>
            <a:ahLst/>
            <a:cxnLst/>
            <a:rect l="l" t="t" r="r" b="b"/>
            <a:pathLst>
              <a:path w="652035" h="1045537">
                <a:moveTo>
                  <a:pt x="0" y="0"/>
                </a:moveTo>
                <a:lnTo>
                  <a:pt x="652035" y="0"/>
                </a:lnTo>
                <a:lnTo>
                  <a:pt x="652035" y="1045537"/>
                </a:lnTo>
                <a:lnTo>
                  <a:pt x="0" y="10455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6034988" y="8716278"/>
            <a:ext cx="654021" cy="1048722"/>
          </a:xfrm>
          <a:custGeom>
            <a:avLst/>
            <a:gdLst/>
            <a:ahLst/>
            <a:cxnLst/>
            <a:rect l="l" t="t" r="r" b="b"/>
            <a:pathLst>
              <a:path w="654021" h="1048722">
                <a:moveTo>
                  <a:pt x="0" y="0"/>
                </a:moveTo>
                <a:lnTo>
                  <a:pt x="654021" y="0"/>
                </a:lnTo>
                <a:lnTo>
                  <a:pt x="654021" y="1048722"/>
                </a:lnTo>
                <a:lnTo>
                  <a:pt x="0" y="1048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7862595" y="2800413"/>
            <a:ext cx="4036071" cy="1366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0334" lvl="1" algn="l">
              <a:lnSpc>
                <a:spcPts val="1819"/>
              </a:lnSpc>
            </a:pPr>
            <a:endParaRPr lang="en-US" sz="1500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280669" lvl="1" indent="-140335">
              <a:lnSpc>
                <a:spcPts val="1819"/>
              </a:lnSpc>
              <a:buFont typeface="Arial"/>
              <a:buChar char="•"/>
            </a:pPr>
            <a:r>
              <a:rPr lang="ru-RU" sz="15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ШНҚ </a:t>
            </a:r>
            <a:r>
              <a:rPr lang="ru-RU" sz="15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ва</a:t>
            </a:r>
            <a:r>
              <a:rPr lang="ru-RU" sz="15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ҳозирда</a:t>
            </a:r>
            <a:r>
              <a:rPr lang="ru-RU" sz="15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LEX.uz </a:t>
            </a:r>
            <a:r>
              <a:rPr lang="ru-RU" sz="15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веб </a:t>
            </a:r>
            <a:r>
              <a:rPr lang="ru-RU" sz="15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саҳифаси</a:t>
            </a:r>
            <a:r>
              <a:rPr lang="ru-RU" sz="15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кўринишига</a:t>
            </a:r>
            <a:r>
              <a:rPr lang="ru-RU" sz="15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олиб</a:t>
            </a:r>
            <a:r>
              <a:rPr lang="ru-RU" sz="15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келиш</a:t>
            </a:r>
            <a:r>
              <a:rPr lang="ru-RU" sz="15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ишлари</a:t>
            </a:r>
            <a:r>
              <a:rPr lang="ru-RU" sz="15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ташкил</a:t>
            </a:r>
            <a:r>
              <a:rPr lang="ru-RU" sz="15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этиш</a:t>
            </a:r>
            <a:r>
              <a:rPr lang="ru-RU" sz="15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.</a:t>
            </a:r>
          </a:p>
          <a:p>
            <a:pPr marL="140334" lvl="1" algn="l">
              <a:lnSpc>
                <a:spcPts val="1819"/>
              </a:lnSpc>
            </a:pPr>
            <a:endParaRPr lang="uz-Cyrl-UZ" sz="1500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  <a:p>
            <a:pPr marL="140334" lvl="1" algn="l">
              <a:lnSpc>
                <a:spcPts val="1819"/>
              </a:lnSpc>
            </a:pPr>
            <a:endParaRPr lang="en-US" sz="1299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7231139" y="1809671"/>
            <a:ext cx="5006201" cy="611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 err="1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Амалга</a:t>
            </a:r>
            <a:r>
              <a:rPr lang="en-US" sz="1799" b="1" dirty="0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1799" b="1" dirty="0" err="1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оширилиши</a:t>
            </a:r>
            <a:r>
              <a:rPr lang="en-US" sz="1799" b="1" dirty="0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1799" b="1" dirty="0" err="1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режалаштирилаётган</a:t>
            </a:r>
            <a:r>
              <a:rPr lang="en-US" sz="1799" b="1" dirty="0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1799" b="1" dirty="0" err="1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ишлар</a:t>
            </a:r>
            <a:endParaRPr lang="en-US" sz="1799" b="1" dirty="0">
              <a:solidFill>
                <a:srgbClr val="000B5D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2038585" y="2634211"/>
            <a:ext cx="4472763" cy="935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ru-RU" sz="1799" b="1" dirty="0" err="1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Ахборот</a:t>
            </a:r>
            <a:r>
              <a:rPr lang="ru-RU" sz="1799" b="1" dirty="0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ru-RU" sz="1799" b="1" dirty="0" err="1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теҳналогийларни</a:t>
            </a:r>
            <a:r>
              <a:rPr lang="ru-RU" sz="1799" b="1" dirty="0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ru-RU" sz="1799" b="1" dirty="0" err="1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жорий</a:t>
            </a:r>
            <a:r>
              <a:rPr lang="ru-RU" sz="1799" b="1" dirty="0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ru-RU" sz="1799" b="1" dirty="0" err="1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этиш</a:t>
            </a:r>
            <a:r>
              <a:rPr lang="ru-RU" sz="1799" b="1" dirty="0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ru-RU" sz="1799" b="1" dirty="0" err="1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бўлими</a:t>
            </a:r>
            <a:r>
              <a:rPr lang="ru-RU" sz="1799" b="1" dirty="0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 err="1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амалга</a:t>
            </a:r>
            <a:r>
              <a:rPr lang="en-US" sz="1799" b="1" dirty="0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1799" b="1" dirty="0" err="1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оширилган</a:t>
            </a:r>
            <a:r>
              <a:rPr lang="en-US" sz="1799" b="1" dirty="0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1799" b="1" dirty="0" err="1">
                <a:solidFill>
                  <a:srgbClr val="00227C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ишлар</a:t>
            </a:r>
            <a:endParaRPr lang="en-US" sz="1799" b="1" dirty="0">
              <a:solidFill>
                <a:srgbClr val="00227C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2380494" y="3969205"/>
            <a:ext cx="4527584" cy="1105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RU" dirty="0"/>
              <a:t>Техник </a:t>
            </a:r>
            <a:r>
              <a:rPr lang="ru-RU" dirty="0" err="1"/>
              <a:t>меъёрлаш</a:t>
            </a:r>
            <a:r>
              <a:rPr lang="ru-RU" dirty="0"/>
              <a:t> </a:t>
            </a:r>
            <a:r>
              <a:rPr lang="ru-RU" dirty="0" err="1"/>
              <a:t>ва</a:t>
            </a:r>
            <a:r>
              <a:rPr lang="ru-RU" dirty="0"/>
              <a:t> </a:t>
            </a:r>
            <a:r>
              <a:rPr lang="ru-RU" dirty="0" err="1"/>
              <a:t>стандартлаштириш</a:t>
            </a:r>
            <a:r>
              <a:rPr lang="ru-RU" dirty="0"/>
              <a:t> </a:t>
            </a:r>
            <a:r>
              <a:rPr lang="ru-RU" dirty="0" err="1"/>
              <a:t>илмий-тадқиқот</a:t>
            </a:r>
            <a:r>
              <a:rPr lang="ru-RU" dirty="0"/>
              <a:t> </a:t>
            </a:r>
            <a:r>
              <a:rPr lang="ru-RU" dirty="0" err="1"/>
              <a:t>институтнинг</a:t>
            </a:r>
            <a:r>
              <a:rPr lang="ru-RU" dirty="0"/>
              <a:t> </a:t>
            </a:r>
            <a:r>
              <a:rPr lang="ru-RU" dirty="0" err="1"/>
              <a:t>расмий</a:t>
            </a:r>
            <a:r>
              <a:rPr lang="ru-RU" dirty="0"/>
              <a:t> 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веб</a:t>
            </a:r>
            <a:r>
              <a:rPr lang="ru-RU" dirty="0"/>
              <a:t> </a:t>
            </a:r>
            <a:r>
              <a:rPr lang="ru-RU" dirty="0" err="1"/>
              <a:t>сайти</a:t>
            </a:r>
            <a:r>
              <a:rPr lang="en-US" dirty="0"/>
              <a:t> </a:t>
            </a:r>
            <a:r>
              <a:rPr lang="ru-RU" dirty="0" err="1"/>
              <a:t>ишлаб</a:t>
            </a:r>
            <a:r>
              <a:rPr lang="ru-RU" dirty="0"/>
              <a:t> </a:t>
            </a:r>
            <a:r>
              <a:rPr lang="ru-RU" dirty="0" err="1"/>
              <a:t>чиқилди</a:t>
            </a:r>
            <a:r>
              <a:rPr lang="ru-RU" dirty="0"/>
              <a:t>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2199539" y="6680246"/>
            <a:ext cx="4527584" cy="2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</a:pP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Қурилиш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калькулятори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дастурий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иловаси</a:t>
            </a: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10483669" y="176537"/>
            <a:ext cx="360015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 err="1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Амалга</a:t>
            </a:r>
            <a:r>
              <a:rPr lang="en-US" sz="1799" b="1" dirty="0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1799" b="1" dirty="0" err="1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оширилаётган</a:t>
            </a:r>
            <a:r>
              <a:rPr lang="en-US" sz="1799" b="1" dirty="0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 </a:t>
            </a:r>
            <a:r>
              <a:rPr lang="en-US" sz="1799" b="1" dirty="0" err="1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ишлар</a:t>
            </a:r>
            <a:endParaRPr lang="en-US" sz="1799" b="1" dirty="0">
              <a:solidFill>
                <a:srgbClr val="000B5D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7565408" y="899254"/>
            <a:ext cx="9703111" cy="443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40334" lvl="1" algn="l">
              <a:lnSpc>
                <a:spcPts val="1819"/>
              </a:lnSpc>
            </a:pP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Институтнинг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шахсий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архив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маълумотлар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базсини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ишлаб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чиқилмоқда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 Бу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ҳар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бир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бўлим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ўзининг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номенклатурасига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асосан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тегишли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ҳужжатлар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архивини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тўлдириб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боориш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имконятини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 </a:t>
            </a:r>
            <a:r>
              <a:rPr lang="ru-RU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яратади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.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68" name="Freeform 68"/>
          <p:cNvSpPr/>
          <p:nvPr/>
        </p:nvSpPr>
        <p:spPr>
          <a:xfrm>
            <a:off x="7719578" y="4149972"/>
            <a:ext cx="304276" cy="304276"/>
          </a:xfrm>
          <a:custGeom>
            <a:avLst/>
            <a:gdLst/>
            <a:ahLst/>
            <a:cxnLst/>
            <a:rect l="l" t="t" r="r" b="b"/>
            <a:pathLst>
              <a:path w="304276" h="304276">
                <a:moveTo>
                  <a:pt x="0" y="0"/>
                </a:moveTo>
                <a:lnTo>
                  <a:pt x="304276" y="0"/>
                </a:lnTo>
                <a:lnTo>
                  <a:pt x="304276" y="304276"/>
                </a:lnTo>
                <a:lnTo>
                  <a:pt x="0" y="304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1" name="Freeform 71"/>
          <p:cNvSpPr/>
          <p:nvPr/>
        </p:nvSpPr>
        <p:spPr>
          <a:xfrm>
            <a:off x="7758056" y="2547889"/>
            <a:ext cx="304276" cy="304276"/>
          </a:xfrm>
          <a:custGeom>
            <a:avLst/>
            <a:gdLst/>
            <a:ahLst/>
            <a:cxnLst/>
            <a:rect l="l" t="t" r="r" b="b"/>
            <a:pathLst>
              <a:path w="304276" h="304276">
                <a:moveTo>
                  <a:pt x="0" y="0"/>
                </a:moveTo>
                <a:lnTo>
                  <a:pt x="304276" y="0"/>
                </a:lnTo>
                <a:lnTo>
                  <a:pt x="304276" y="304276"/>
                </a:lnTo>
                <a:lnTo>
                  <a:pt x="0" y="304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5" name="TextBox 75"/>
          <p:cNvSpPr txBox="1"/>
          <p:nvPr/>
        </p:nvSpPr>
        <p:spPr>
          <a:xfrm>
            <a:off x="7887995" y="4644397"/>
            <a:ext cx="3846805" cy="907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0669" lvl="1" indent="-140335">
              <a:lnSpc>
                <a:spcPts val="1819"/>
              </a:lnSpc>
              <a:buFont typeface="Arial"/>
              <a:buChar char="•"/>
            </a:pPr>
            <a:r>
              <a:rPr lang="ru-RU" sz="1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Шаҳарсозлик</a:t>
            </a:r>
            <a:r>
              <a:rPr lang="ru-RU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норма </a:t>
            </a:r>
            <a:r>
              <a:rPr lang="ru-RU" sz="1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</a:t>
            </a:r>
            <a:r>
              <a:rPr lang="ru-RU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қоидалари</a:t>
            </a:r>
            <a:r>
              <a:rPr lang="ru-RU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бўйича</a:t>
            </a:r>
            <a:r>
              <a:rPr lang="ru-RU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Сунъий</a:t>
            </a:r>
            <a:r>
              <a:rPr lang="ru-RU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Интеллект </a:t>
            </a:r>
            <a:r>
              <a:rPr lang="ru-RU" sz="1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асосидаги</a:t>
            </a:r>
            <a:r>
              <a:rPr lang="ru-RU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ёрдамчи</a:t>
            </a:r>
            <a:r>
              <a:rPr lang="ru-RU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тизимини</a:t>
            </a:r>
            <a:r>
              <a:rPr lang="ru-RU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яратиш</a:t>
            </a:r>
            <a:endParaRPr lang="ru-RU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0669" lvl="1" indent="-140335">
              <a:lnSpc>
                <a:spcPts val="1819"/>
              </a:lnSpc>
              <a:buFont typeface="Arial"/>
              <a:buChar char="•"/>
            </a:pP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8196386" y="2608509"/>
            <a:ext cx="1192130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591" b="1" dirty="0">
                <a:solidFill>
                  <a:srgbClr val="00000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2025 </a:t>
            </a:r>
            <a:r>
              <a:rPr lang="en-US" sz="1591" b="1" dirty="0" err="1">
                <a:solidFill>
                  <a:srgbClr val="00000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йил</a:t>
            </a:r>
            <a:endParaRPr lang="en-US" sz="1591" b="1" dirty="0">
              <a:solidFill>
                <a:srgbClr val="000000"/>
              </a:solidFill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8218080" y="4120371"/>
            <a:ext cx="1539563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591" b="1" dirty="0">
                <a:solidFill>
                  <a:srgbClr val="00000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2026 </a:t>
            </a:r>
            <a:r>
              <a:rPr lang="en-US" sz="1591" b="1" dirty="0" err="1">
                <a:solidFill>
                  <a:srgbClr val="00000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йил</a:t>
            </a:r>
            <a:endParaRPr lang="en-US" sz="1591" b="1" dirty="0">
              <a:solidFill>
                <a:srgbClr val="000000"/>
              </a:solidFill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13393044" y="2800413"/>
            <a:ext cx="3902862" cy="3898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40334" lvl="1">
              <a:lnSpc>
                <a:spcPts val="1819"/>
              </a:lnSpc>
              <a:spcAft>
                <a:spcPts val="800"/>
              </a:spcAft>
            </a:pPr>
            <a:r>
              <a:rPr lang="ru-RU" sz="1600" dirty="0" err="1"/>
              <a:t>Иш</a:t>
            </a:r>
            <a:r>
              <a:rPr lang="ru-RU" sz="1600" dirty="0"/>
              <a:t> </a:t>
            </a:r>
            <a:r>
              <a:rPr lang="ru-RU" sz="1600" dirty="0" err="1"/>
              <a:t>жараёнларини</a:t>
            </a:r>
            <a:r>
              <a:rPr lang="ru-RU" sz="1600" dirty="0"/>
              <a:t> </a:t>
            </a:r>
            <a:r>
              <a:rPr lang="ru-RU" sz="1600" dirty="0" err="1"/>
              <a:t>рақамлаштиришни</a:t>
            </a:r>
            <a:r>
              <a:rPr lang="ru-RU" sz="1600" dirty="0"/>
              <a:t> </a:t>
            </a:r>
            <a:r>
              <a:rPr lang="en-US" sz="1600" dirty="0" err="1"/>
              <a:t>tashkil</a:t>
            </a:r>
            <a:r>
              <a:rPr lang="en-US" sz="1600" dirty="0"/>
              <a:t> </a:t>
            </a:r>
            <a:r>
              <a:rPr lang="ru-RU" sz="1600" dirty="0" err="1"/>
              <a:t>этиш</a:t>
            </a:r>
            <a:r>
              <a:rPr lang="ru-RU" sz="1600" dirty="0"/>
              <a:t> </a:t>
            </a:r>
            <a:r>
              <a:rPr lang="ru-RU" sz="1600" dirty="0" err="1"/>
              <a:t>мақсадида</a:t>
            </a:r>
            <a:r>
              <a:rPr lang="ru-RU" sz="1600" dirty="0"/>
              <a:t> </a:t>
            </a:r>
            <a:r>
              <a:rPr lang="ru-RU" sz="1600" dirty="0" err="1"/>
              <a:t>малакали</a:t>
            </a:r>
            <a:r>
              <a:rPr lang="ru-RU" sz="1600" dirty="0"/>
              <a:t> </a:t>
            </a:r>
            <a:r>
              <a:rPr lang="ru-RU" sz="1600" dirty="0" err="1"/>
              <a:t>фронтенд</a:t>
            </a:r>
            <a:r>
              <a:rPr lang="ru-RU" sz="1600" dirty="0"/>
              <a:t> </a:t>
            </a:r>
            <a:r>
              <a:rPr lang="ru-RU" sz="1600" dirty="0" err="1"/>
              <a:t>ва</a:t>
            </a:r>
            <a:r>
              <a:rPr lang="ru-RU" sz="1600" dirty="0"/>
              <a:t> мобил </a:t>
            </a:r>
            <a:r>
              <a:rPr lang="ru-RU" sz="1600" dirty="0" err="1"/>
              <a:t>илова</a:t>
            </a:r>
            <a:r>
              <a:rPr lang="ru-RU" sz="1600" dirty="0"/>
              <a:t> </a:t>
            </a:r>
            <a:r>
              <a:rPr lang="ru-RU" sz="1600" dirty="0" err="1"/>
              <a:t>ишлаб</a:t>
            </a:r>
            <a:r>
              <a:rPr lang="ru-RU" sz="1600" dirty="0"/>
              <a:t> </a:t>
            </a:r>
            <a:r>
              <a:rPr lang="ru-RU" sz="1600" dirty="0" err="1"/>
              <a:t>чиқувчи</a:t>
            </a:r>
            <a:r>
              <a:rPr lang="ru-RU" sz="1600" dirty="0"/>
              <a:t> ходим билан </a:t>
            </a:r>
            <a:r>
              <a:rPr lang="ru-RU" sz="1600" dirty="0" err="1"/>
              <a:t>таъминлаш</a:t>
            </a:r>
            <a:endParaRPr lang="ru-RU" sz="1600" dirty="0"/>
          </a:p>
          <a:p>
            <a:pPr marL="140334" lvl="1">
              <a:lnSpc>
                <a:spcPts val="1819"/>
              </a:lnSpc>
              <a:spcAft>
                <a:spcPts val="800"/>
              </a:spcAft>
            </a:pPr>
            <a:endParaRPr lang="en-US" sz="1600" dirty="0"/>
          </a:p>
          <a:p>
            <a:pPr marL="140334" lvl="1">
              <a:lnSpc>
                <a:spcPts val="1819"/>
              </a:lnSpc>
              <a:spcAft>
                <a:spcPts val="800"/>
              </a:spcAft>
            </a:pPr>
            <a:endParaRPr lang="ru-RU" sz="1600" dirty="0"/>
          </a:p>
          <a:p>
            <a:pPr marL="140334" lvl="1">
              <a:lnSpc>
                <a:spcPts val="1819"/>
              </a:lnSpc>
              <a:spcAft>
                <a:spcPts val="800"/>
              </a:spcAft>
            </a:pPr>
            <a:r>
              <a:rPr lang="ru-RU" sz="1600" dirty="0" err="1"/>
              <a:t>Дастурий</a:t>
            </a:r>
            <a:r>
              <a:rPr lang="ru-RU" sz="1600" dirty="0"/>
              <a:t> </a:t>
            </a:r>
            <a:r>
              <a:rPr lang="ru-RU" sz="1600" dirty="0" err="1"/>
              <a:t>таъминот</a:t>
            </a:r>
            <a:r>
              <a:rPr lang="ru-RU" sz="1600" dirty="0"/>
              <a:t> </a:t>
            </a:r>
            <a:r>
              <a:rPr lang="ru-RU" sz="1600" dirty="0" err="1"/>
              <a:t>дастурларини</a:t>
            </a:r>
            <a:r>
              <a:rPr lang="ru-RU" sz="1600" dirty="0"/>
              <a:t> </a:t>
            </a:r>
            <a:r>
              <a:rPr lang="ru-RU" sz="1600" dirty="0" err="1"/>
              <a:t>яратиш</a:t>
            </a:r>
            <a:r>
              <a:rPr lang="ru-RU" sz="1600" dirty="0"/>
              <a:t> </a:t>
            </a:r>
            <a:r>
              <a:rPr lang="ru-RU" sz="1600" dirty="0" err="1"/>
              <a:t>учун</a:t>
            </a:r>
            <a:r>
              <a:rPr lang="ru-RU" sz="1600" dirty="0"/>
              <a:t> </a:t>
            </a:r>
            <a:r>
              <a:rPr lang="ru-RU" sz="1600" dirty="0" err="1"/>
              <a:t>керакли</a:t>
            </a:r>
            <a:r>
              <a:rPr lang="ru-RU" sz="1600" dirty="0"/>
              <a:t> </a:t>
            </a:r>
            <a:r>
              <a:rPr lang="ru-RU" sz="1600" dirty="0" err="1"/>
              <a:t>лицензияланган</a:t>
            </a:r>
            <a:r>
              <a:rPr lang="ru-RU" sz="1600" dirty="0"/>
              <a:t> </a:t>
            </a:r>
            <a:r>
              <a:rPr lang="ru-RU" sz="1600" dirty="0" err="1"/>
              <a:t>дастурларни</a:t>
            </a:r>
            <a:r>
              <a:rPr lang="ru-RU" sz="1600" dirty="0"/>
              <a:t> </a:t>
            </a:r>
            <a:r>
              <a:rPr lang="ru-RU" sz="1600" dirty="0" err="1"/>
              <a:t>харид</a:t>
            </a:r>
            <a:r>
              <a:rPr lang="ru-RU" sz="1600" dirty="0"/>
              <a:t> </a:t>
            </a:r>
            <a:r>
              <a:rPr lang="ru-RU" sz="1600" dirty="0" err="1"/>
              <a:t>қилиш</a:t>
            </a:r>
            <a:endParaRPr lang="ru-RU" sz="1600" dirty="0"/>
          </a:p>
          <a:p>
            <a:pPr marL="140334" lvl="1">
              <a:lnSpc>
                <a:spcPts val="1819"/>
              </a:lnSpc>
              <a:spcAft>
                <a:spcPts val="800"/>
              </a:spcAft>
            </a:pPr>
            <a:endParaRPr lang="uz-Cyrl-UZ" sz="1500" spc="31" dirty="0">
              <a:solidFill>
                <a:srgbClr val="000000"/>
              </a:solidFill>
              <a:latin typeface="Times New Roman" panose="02020603050405020304" pitchFamily="18" charset="0"/>
              <a:ea typeface="DM Sans Bold"/>
              <a:cs typeface="Times New Roman" panose="02020603050405020304" pitchFamily="18" charset="0"/>
              <a:sym typeface="DM Sans Bold"/>
            </a:endParaRPr>
          </a:p>
          <a:p>
            <a:pPr marL="0" lvl="1" indent="0" algn="l">
              <a:lnSpc>
                <a:spcPts val="1370"/>
              </a:lnSpc>
              <a:spcBef>
                <a:spcPct val="0"/>
              </a:spcBef>
            </a:pPr>
            <a:br>
              <a:rPr lang="uz-Cyrl-UZ" sz="1300" spc="3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</a:br>
            <a:br>
              <a:rPr lang="uz-Cyrl-UZ" sz="1300" spc="3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</a:br>
            <a:br>
              <a:rPr lang="uz-Cyrl-UZ" sz="1300" spc="3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</a:br>
            <a:endParaRPr lang="ru-RU" sz="1300" spc="31" dirty="0">
              <a:solidFill>
                <a:srgbClr val="000000"/>
              </a:solidFill>
              <a:latin typeface="Times New Roman" panose="02020603050405020304" pitchFamily="18" charset="0"/>
              <a:ea typeface="DM Sans Bold"/>
              <a:cs typeface="Times New Roman" panose="02020603050405020304" pitchFamily="18" charset="0"/>
              <a:sym typeface="DM Sans Bold"/>
            </a:endParaRPr>
          </a:p>
          <a:p>
            <a:pPr marL="0" lvl="1" indent="0" algn="l">
              <a:lnSpc>
                <a:spcPts val="1370"/>
              </a:lnSpc>
              <a:spcBef>
                <a:spcPct val="0"/>
              </a:spcBef>
            </a:pPr>
            <a:br>
              <a:rPr lang="ru-RU" sz="1300" spc="31" dirty="0">
                <a:solidFill>
                  <a:srgbClr val="000000"/>
                </a:solidFill>
                <a:latin typeface="Times New Roman" panose="02020603050405020304" pitchFamily="18" charset="0"/>
                <a:ea typeface="DM Sans Bold"/>
                <a:cs typeface="Times New Roman" panose="02020603050405020304" pitchFamily="18" charset="0"/>
                <a:sym typeface="DM Sans Bold"/>
              </a:rPr>
            </a:br>
            <a:endParaRPr lang="en-US" sz="1300" spc="31" dirty="0">
              <a:solidFill>
                <a:srgbClr val="000000"/>
              </a:solidFill>
              <a:latin typeface="Times New Roman" panose="02020603050405020304" pitchFamily="18" charset="0"/>
              <a:ea typeface="DM Sans Bold"/>
              <a:cs typeface="Times New Roman" panose="02020603050405020304" pitchFamily="18" charset="0"/>
              <a:sym typeface="DM Sans Bold"/>
            </a:endParaRPr>
          </a:p>
        </p:txBody>
      </p:sp>
      <p:grpSp>
        <p:nvGrpSpPr>
          <p:cNvPr id="94" name="Group 94"/>
          <p:cNvGrpSpPr/>
          <p:nvPr/>
        </p:nvGrpSpPr>
        <p:grpSpPr>
          <a:xfrm>
            <a:off x="7477729" y="6820239"/>
            <a:ext cx="9996544" cy="2884012"/>
            <a:chOff x="0" y="0"/>
            <a:chExt cx="3271515" cy="1849785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3271515" cy="1849785"/>
            </a:xfrm>
            <a:custGeom>
              <a:avLst/>
              <a:gdLst/>
              <a:ahLst/>
              <a:cxnLst/>
              <a:rect l="l" t="t" r="r" b="b"/>
              <a:pathLst>
                <a:path w="3271515" h="1849785">
                  <a:moveTo>
                    <a:pt x="0" y="0"/>
                  </a:moveTo>
                  <a:lnTo>
                    <a:pt x="3271515" y="0"/>
                  </a:lnTo>
                  <a:lnTo>
                    <a:pt x="3271515" y="1849785"/>
                  </a:lnTo>
                  <a:lnTo>
                    <a:pt x="0" y="184978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9525"/>
              <a:ext cx="3271515" cy="1859310"/>
            </a:xfrm>
            <a:prstGeom prst="rect">
              <a:avLst/>
            </a:prstGeom>
          </p:spPr>
          <p:txBody>
            <a:bodyPr lIns="42441" tIns="42441" rIns="42441" bIns="42441" rtlCol="0" anchor="ctr"/>
            <a:lstStyle/>
            <a:p>
              <a:pPr algn="ctr">
                <a:lnSpc>
                  <a:spcPts val="2013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7694077" y="7024648"/>
            <a:ext cx="9385132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Инситутнинг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фаолият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йўналишларини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ва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қурилиш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соҳасидаги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илмий-тадқиқот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ишларини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рақамлаштиришни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tashkil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этиш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юзасидан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малакали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ходимлар</a:t>
            </a:r>
            <a:r>
              <a:rPr lang="ru-RU" dirty="0">
                <a:solidFill>
                  <a:schemeClr val="bg1"/>
                </a:solidFill>
              </a:rPr>
              <a:t> билан </a:t>
            </a:r>
            <a:r>
              <a:rPr lang="ru-RU" dirty="0" err="1">
                <a:solidFill>
                  <a:schemeClr val="bg1"/>
                </a:solidFill>
              </a:rPr>
              <a:t>таъминлаш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 err="1">
                <a:solidFill>
                  <a:schemeClr val="bg1"/>
                </a:solidFill>
              </a:rPr>
              <a:t>Ахборот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технологиялари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бўлим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ходимлар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малакасини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ошириш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 err="1">
                <a:solidFill>
                  <a:schemeClr val="bg1"/>
                </a:solidFill>
              </a:rPr>
              <a:t>Дастурий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таъминот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дастурларини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яратиш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учун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керакли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лицензияланган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дастурларни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харид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қилиш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</a:rPr>
              <a:t>Институт </a:t>
            </a:r>
            <a:r>
              <a:rPr lang="ru-RU" dirty="0" err="1">
                <a:solidFill>
                  <a:schemeClr val="bg1"/>
                </a:solidFill>
              </a:rPr>
              <a:t>ходимларининг</a:t>
            </a:r>
            <a:r>
              <a:rPr lang="ru-RU" dirty="0">
                <a:solidFill>
                  <a:schemeClr val="bg1"/>
                </a:solidFill>
              </a:rPr>
              <a:t> орг-техника </a:t>
            </a:r>
            <a:r>
              <a:rPr lang="ru-RU" dirty="0" err="1">
                <a:solidFill>
                  <a:schemeClr val="bg1"/>
                </a:solidFill>
              </a:rPr>
              <a:t>воситаларини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янгилаб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бориш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чораларини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кўриш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</a:rPr>
              <a:t>Институт орг-техника </a:t>
            </a:r>
            <a:r>
              <a:rPr lang="ru-RU" dirty="0" err="1">
                <a:solidFill>
                  <a:schemeClr val="bg1"/>
                </a:solidFill>
              </a:rPr>
              <a:t>воситларини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таъмирлаш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ҳамда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дастурий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таъминот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маълумотлар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омбори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учун</a:t>
            </a:r>
            <a:r>
              <a:rPr lang="ru-RU" dirty="0">
                <a:solidFill>
                  <a:schemeClr val="bg1"/>
                </a:solidFill>
              </a:rPr>
              <a:t> сервер хона </a:t>
            </a:r>
            <a:r>
              <a:rPr lang="ru-RU" dirty="0" err="1">
                <a:solidFill>
                  <a:schemeClr val="bg1"/>
                </a:solidFill>
              </a:rPr>
              <a:t>ажратиш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ва</a:t>
            </a:r>
            <a:r>
              <a:rPr lang="ru-RU" dirty="0">
                <a:solidFill>
                  <a:schemeClr val="bg1"/>
                </a:solidFill>
              </a:rPr>
              <a:t> сервер </a:t>
            </a:r>
            <a:r>
              <a:rPr lang="ru-RU" dirty="0" err="1">
                <a:solidFill>
                  <a:schemeClr val="bg1"/>
                </a:solidFill>
              </a:rPr>
              <a:t>қурилмаларини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харид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қилиш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1" name="TextBox 101"/>
          <p:cNvSpPr txBox="1"/>
          <p:nvPr/>
        </p:nvSpPr>
        <p:spPr>
          <a:xfrm>
            <a:off x="1783097" y="325127"/>
            <a:ext cx="4897928" cy="868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28"/>
              </a:lnSpc>
              <a:spcBef>
                <a:spcPct val="0"/>
              </a:spcBef>
            </a:pPr>
            <a:r>
              <a:rPr lang="ru-RU" sz="2520" b="1" dirty="0" err="1">
                <a:solidFill>
                  <a:srgbClr val="000B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Ахборот</a:t>
            </a:r>
            <a:r>
              <a:rPr lang="ru-RU" sz="2520" b="1" dirty="0">
                <a:solidFill>
                  <a:srgbClr val="000B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20" b="1" dirty="0" err="1">
                <a:solidFill>
                  <a:srgbClr val="000B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теҳналогийларни</a:t>
            </a:r>
            <a:r>
              <a:rPr lang="ru-RU" sz="2520" b="1" dirty="0">
                <a:solidFill>
                  <a:srgbClr val="000B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20" b="1" dirty="0" err="1">
                <a:solidFill>
                  <a:srgbClr val="000B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жорий</a:t>
            </a:r>
            <a:r>
              <a:rPr lang="ru-RU" sz="2520" b="1" dirty="0">
                <a:solidFill>
                  <a:srgbClr val="000B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20" b="1" dirty="0" err="1">
                <a:solidFill>
                  <a:srgbClr val="000B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этиш</a:t>
            </a:r>
            <a:r>
              <a:rPr lang="ru-RU" sz="2520" b="1" dirty="0">
                <a:solidFill>
                  <a:srgbClr val="000B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20" b="1" dirty="0" err="1">
                <a:solidFill>
                  <a:srgbClr val="000B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бўлими</a:t>
            </a:r>
            <a:r>
              <a:rPr lang="ru-RU" sz="2520" b="1" dirty="0">
                <a:solidFill>
                  <a:srgbClr val="000B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/>
          </a:p>
        </p:txBody>
      </p:sp>
      <p:sp>
        <p:nvSpPr>
          <p:cNvPr id="102" name="TextBox 59">
            <a:extLst>
              <a:ext uri="{FF2B5EF4-FFF2-40B4-BE49-F238E27FC236}">
                <a16:creationId xmlns:a16="http://schemas.microsoft.com/office/drawing/2014/main" id="{0CBCB812-9051-4DBD-9EAF-1F2A9F161B0D}"/>
              </a:ext>
            </a:extLst>
          </p:cNvPr>
          <p:cNvSpPr txBox="1"/>
          <p:nvPr/>
        </p:nvSpPr>
        <p:spPr>
          <a:xfrm>
            <a:off x="2275680" y="7875623"/>
            <a:ext cx="4511109" cy="1257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</a:pPr>
            <a:r>
              <a:rPr lang="ru-RU" dirty="0" err="1"/>
              <a:t>Ахборот</a:t>
            </a:r>
            <a:r>
              <a:rPr lang="ru-RU" dirty="0"/>
              <a:t> </a:t>
            </a:r>
            <a:r>
              <a:rPr lang="ru-RU" dirty="0" err="1"/>
              <a:t>технологияларини</a:t>
            </a:r>
            <a:r>
              <a:rPr lang="ru-RU" dirty="0"/>
              <a:t> </a:t>
            </a:r>
            <a:r>
              <a:rPr lang="ru-RU" dirty="0" err="1"/>
              <a:t>жорий</a:t>
            </a:r>
            <a:r>
              <a:rPr lang="ru-RU" dirty="0"/>
              <a:t> </a:t>
            </a:r>
            <a:r>
              <a:rPr lang="ru-RU" dirty="0" err="1"/>
              <a:t>этиш</a:t>
            </a:r>
            <a:r>
              <a:rPr lang="ru-RU" dirty="0"/>
              <a:t> </a:t>
            </a:r>
            <a:r>
              <a:rPr lang="ru-RU" dirty="0" err="1"/>
              <a:t>бўлими</a:t>
            </a:r>
            <a:r>
              <a:rPr lang="ru-RU" dirty="0"/>
              <a:t> </a:t>
            </a:r>
            <a:r>
              <a:rPr lang="ru-RU" dirty="0" err="1"/>
              <a:t>томонидан</a:t>
            </a:r>
            <a:r>
              <a:rPr lang="ru-RU" dirty="0"/>
              <a:t> </a:t>
            </a:r>
            <a:r>
              <a:rPr lang="ru-RU" dirty="0" err="1"/>
              <a:t>янгиланган</a:t>
            </a:r>
            <a:r>
              <a:rPr lang="ru-RU" dirty="0"/>
              <a:t> </a:t>
            </a:r>
            <a:r>
              <a:rPr lang="ru-RU" dirty="0" err="1"/>
              <a:t>нормативлар</a:t>
            </a:r>
            <a:r>
              <a:rPr lang="ru-RU" dirty="0"/>
              <a:t> </a:t>
            </a:r>
            <a:r>
              <a:rPr lang="ru-RU" dirty="0" err="1"/>
              <a:t>базаси</a:t>
            </a:r>
            <a:r>
              <a:rPr lang="ru-RU" dirty="0"/>
              <a:t> </a:t>
            </a:r>
          </a:p>
          <a:p>
            <a:pPr>
              <a:lnSpc>
                <a:spcPct val="106000"/>
              </a:lnSpc>
              <a:spcBef>
                <a:spcPct val="0"/>
              </a:spcBef>
              <a:spcAft>
                <a:spcPts val="800"/>
              </a:spcAft>
            </a:pPr>
            <a:endParaRPr lang="en-US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107" name="TextBox 52">
            <a:extLst>
              <a:ext uri="{FF2B5EF4-FFF2-40B4-BE49-F238E27FC236}">
                <a16:creationId xmlns:a16="http://schemas.microsoft.com/office/drawing/2014/main" id="{73C41CC3-BC25-40D3-A6DB-3AE4E2ABA9CD}"/>
              </a:ext>
            </a:extLst>
          </p:cNvPr>
          <p:cNvSpPr txBox="1"/>
          <p:nvPr/>
        </p:nvSpPr>
        <p:spPr>
          <a:xfrm>
            <a:off x="12968486" y="1872741"/>
            <a:ext cx="4156577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5"/>
              </a:lnSpc>
              <a:spcBef>
                <a:spcPct val="0"/>
              </a:spcBef>
            </a:pPr>
            <a:r>
              <a:rPr lang="ru-RU" b="1" dirty="0" err="1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</a:rPr>
              <a:t>Мавжуд</a:t>
            </a:r>
            <a:r>
              <a:rPr lang="ru-RU" b="1" dirty="0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</a:rPr>
              <a:t>муаммолар</a:t>
            </a:r>
            <a:endParaRPr lang="ru-RU" b="1" dirty="0">
              <a:solidFill>
                <a:srgbClr val="000B5D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</a:endParaRPr>
          </a:p>
          <a:p>
            <a:pPr marL="0" lvl="0" indent="0" algn="ctr">
              <a:lnSpc>
                <a:spcPts val="2075"/>
              </a:lnSpc>
              <a:spcBef>
                <a:spcPct val="0"/>
              </a:spcBef>
            </a:pPr>
            <a:endParaRPr lang="en-US" sz="1800" b="1" dirty="0">
              <a:solidFill>
                <a:srgbClr val="000B5D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</p:txBody>
      </p:sp>
      <p:sp>
        <p:nvSpPr>
          <p:cNvPr id="20" name="TextBox 55">
            <a:extLst>
              <a:ext uri="{FF2B5EF4-FFF2-40B4-BE49-F238E27FC236}">
                <a16:creationId xmlns:a16="http://schemas.microsoft.com/office/drawing/2014/main" id="{7920B16C-179F-50E6-3A20-0C1B2B9CB1C5}"/>
              </a:ext>
            </a:extLst>
          </p:cNvPr>
          <p:cNvSpPr txBox="1"/>
          <p:nvPr/>
        </p:nvSpPr>
        <p:spPr>
          <a:xfrm>
            <a:off x="2191398" y="5544895"/>
            <a:ext cx="4527584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RU" dirty="0"/>
              <a:t>“</a:t>
            </a:r>
            <a:r>
              <a:rPr lang="ru-RU" dirty="0" err="1"/>
              <a:t>Шаҳарсозлик</a:t>
            </a:r>
            <a:r>
              <a:rPr lang="ru-RU" dirty="0"/>
              <a:t> </a:t>
            </a:r>
            <a:r>
              <a:rPr lang="ru-RU" dirty="0" err="1"/>
              <a:t>нормалари</a:t>
            </a:r>
            <a:r>
              <a:rPr lang="ru-RU" dirty="0"/>
              <a:t>” мобил </a:t>
            </a:r>
            <a:r>
              <a:rPr lang="ru-RU" dirty="0" err="1"/>
              <a:t>иловаси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4" name="TextBox 4">
            <a:extLst>
              <a:ext uri="{FF2B5EF4-FFF2-40B4-BE49-F238E27FC236}">
                <a16:creationId xmlns:a16="http://schemas.microsoft.com/office/drawing/2014/main" id="{44B8BD6C-F50D-34F4-B714-3649395DE59E}"/>
              </a:ext>
            </a:extLst>
          </p:cNvPr>
          <p:cNvSpPr txBox="1"/>
          <p:nvPr/>
        </p:nvSpPr>
        <p:spPr>
          <a:xfrm>
            <a:off x="7549686" y="4729367"/>
            <a:ext cx="4415914" cy="256670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Прямоугольник: скругленные углы 85">
            <a:extLst>
              <a:ext uri="{FF2B5EF4-FFF2-40B4-BE49-F238E27FC236}">
                <a16:creationId xmlns:a16="http://schemas.microsoft.com/office/drawing/2014/main" id="{85422215-A992-E6FA-F48B-29B4A91D6371}"/>
              </a:ext>
            </a:extLst>
          </p:cNvPr>
          <p:cNvSpPr/>
          <p:nvPr/>
        </p:nvSpPr>
        <p:spPr>
          <a:xfrm>
            <a:off x="13144728" y="2847111"/>
            <a:ext cx="214114" cy="198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7" name="Прямоугольник: скругленные углы 86">
            <a:extLst>
              <a:ext uri="{FF2B5EF4-FFF2-40B4-BE49-F238E27FC236}">
                <a16:creationId xmlns:a16="http://schemas.microsoft.com/office/drawing/2014/main" id="{6742158E-E32A-3534-0859-5296C12DFC95}"/>
              </a:ext>
            </a:extLst>
          </p:cNvPr>
          <p:cNvSpPr/>
          <p:nvPr/>
        </p:nvSpPr>
        <p:spPr>
          <a:xfrm>
            <a:off x="13176383" y="4509160"/>
            <a:ext cx="214114" cy="198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TextBox 52">
            <a:extLst>
              <a:ext uri="{FF2B5EF4-FFF2-40B4-BE49-F238E27FC236}">
                <a16:creationId xmlns:a16="http://schemas.microsoft.com/office/drawing/2014/main" id="{59C06B23-E04D-F905-5783-645D9971A240}"/>
              </a:ext>
            </a:extLst>
          </p:cNvPr>
          <p:cNvSpPr txBox="1"/>
          <p:nvPr/>
        </p:nvSpPr>
        <p:spPr>
          <a:xfrm>
            <a:off x="10216989" y="6241005"/>
            <a:ext cx="4156577" cy="546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b="1" dirty="0" err="1">
                <a:solidFill>
                  <a:srgbClr val="000B5D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</a:rPr>
              <a:t>Таклифлар</a:t>
            </a:r>
            <a:endParaRPr lang="ru-RU" b="1" dirty="0">
              <a:solidFill>
                <a:srgbClr val="000B5D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</a:endParaRPr>
          </a:p>
          <a:p>
            <a:pPr marL="0" lvl="0" indent="0" algn="ctr">
              <a:lnSpc>
                <a:spcPts val="2075"/>
              </a:lnSpc>
              <a:spcBef>
                <a:spcPct val="0"/>
              </a:spcBef>
            </a:pPr>
            <a:endParaRPr lang="en-US" sz="1800" b="1" dirty="0">
              <a:solidFill>
                <a:srgbClr val="000B5D"/>
              </a:solidFill>
              <a:latin typeface="Times New Roman" panose="02020603050405020304" pitchFamily="18" charset="0"/>
              <a:ea typeface="Open Sans Bold"/>
              <a:cs typeface="Times New Roman" panose="02020603050405020304" pitchFamily="18" charset="0"/>
              <a:sym typeface="Open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200</Words>
  <Application>Microsoft Office PowerPoint</Application>
  <PresentationFormat>Произвольный</PresentationFormat>
  <Paragraphs>29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TAIEX INTPA - "Technical Assistance and Information Exchange Instrument for International Partnerships" грант лойиҳаси муваффақиятли қўлга киритилди: Грант лойихаси доирасида жорий йилнинг 26-30 май кунлари Тошкентда махаллий мутахассислар учун</dc:title>
  <dc:creator>TMSITI</dc:creator>
  <cp:lastModifiedBy>Google_brat</cp:lastModifiedBy>
  <cp:revision>23</cp:revision>
  <dcterms:created xsi:type="dcterms:W3CDTF">2006-08-16T00:00:00Z</dcterms:created>
  <dcterms:modified xsi:type="dcterms:W3CDTF">2025-11-20T10:52:46Z</dcterms:modified>
  <dc:identifier>DAG5HQJBNFA</dc:identifier>
</cp:coreProperties>
</file>